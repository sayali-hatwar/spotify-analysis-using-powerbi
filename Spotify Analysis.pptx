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  <p:sldMasterId id="2147483699" r:id="rId2"/>
    <p:sldMasterId id="2147483702" r:id="rId3"/>
    <p:sldMasterId id="2147483705" r:id="rId4"/>
    <p:sldMasterId id="2147483708" r:id="rId5"/>
  </p:sldMasterIdLst>
  <p:notesMasterIdLst>
    <p:notesMasterId r:id="rId19"/>
  </p:notesMasterIdLst>
  <p:sldIdLst>
    <p:sldId id="260" r:id="rId6"/>
    <p:sldId id="258" r:id="rId7"/>
    <p:sldId id="261" r:id="rId8"/>
    <p:sldId id="265" r:id="rId9"/>
    <p:sldId id="264" r:id="rId10"/>
    <p:sldId id="262" r:id="rId11"/>
    <p:sldId id="263" r:id="rId12"/>
    <p:sldId id="266" r:id="rId13"/>
    <p:sldId id="267" r:id="rId14"/>
    <p:sldId id="270" r:id="rId15"/>
    <p:sldId id="269" r:id="rId16"/>
    <p:sldId id="271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89FAD4-68EE-4C6D-80F9-26953A5F9DD9}">
          <p14:sldIdLst>
            <p14:sldId id="260"/>
            <p14:sldId id="258"/>
            <p14:sldId id="261"/>
            <p14:sldId id="265"/>
            <p14:sldId id="264"/>
            <p14:sldId id="262"/>
            <p14:sldId id="263"/>
            <p14:sldId id="266"/>
            <p14:sldId id="267"/>
            <p14:sldId id="270"/>
            <p14:sldId id="269"/>
          </p14:sldIdLst>
        </p14:section>
        <p14:section name="Untitled Section" id="{A86129CF-AFB4-4CC4-8F59-C973D5894817}">
          <p14:sldIdLst>
            <p14:sldId id="271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421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C07232-219B-4146-A408-504E2E6A41BB}" v="64" dt="2025-07-10T16:35:33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0161" autoAdjust="0"/>
  </p:normalViewPr>
  <p:slideViewPr>
    <p:cSldViewPr snapToGrid="0">
      <p:cViewPr varScale="1">
        <p:scale>
          <a:sx n="60" d="100"/>
          <a:sy n="60" d="100"/>
        </p:scale>
        <p:origin x="2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72715C-F33C-4DBC-A9F2-34A46FE8B59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6DD3C-B327-466F-B6AD-1A000B99E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37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6DD3C-B327-466F-B6AD-1A000B99EC4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144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9C7667-EADA-40AC-B931-4642E0A9A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17136"/>
            <a:ext cx="6581554" cy="1371600"/>
          </a:xfrm>
        </p:spPr>
        <p:txBody>
          <a:bodyPr>
            <a:normAutofit/>
          </a:bodyPr>
          <a:lstStyle>
            <a:lvl1pPr>
              <a:lnSpc>
                <a:spcPts val="4600"/>
              </a:lnSpc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332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9C7667-EADA-40AC-B931-4642E0A9A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9000" y="2240280"/>
            <a:ext cx="4645152" cy="419709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C1CB8E8-F58A-4B26-B8AA-8977FC608E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936" y="4498848"/>
            <a:ext cx="2121408" cy="621792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200" b="1"/>
            </a:lvl1pPr>
            <a:lvl2pPr marL="457200" indent="0">
              <a:lnSpc>
                <a:spcPts val="1800"/>
              </a:lnSpc>
              <a:spcBef>
                <a:spcPts val="0"/>
              </a:spcBef>
              <a:buNone/>
              <a:defRPr sz="1200" b="1"/>
            </a:lvl2pPr>
            <a:lvl3pPr marL="914400" indent="0">
              <a:lnSpc>
                <a:spcPts val="1800"/>
              </a:lnSpc>
              <a:spcBef>
                <a:spcPts val="0"/>
              </a:spcBef>
              <a:buNone/>
              <a:defRPr sz="1200" b="1"/>
            </a:lvl3pPr>
            <a:lvl4pPr marL="1371600" indent="0">
              <a:lnSpc>
                <a:spcPts val="1800"/>
              </a:lnSpc>
              <a:spcBef>
                <a:spcPts val="0"/>
              </a:spcBef>
              <a:buNone/>
              <a:defRPr sz="1200" b="1"/>
            </a:lvl4pPr>
            <a:lvl5pPr marL="1828800" indent="0">
              <a:lnSpc>
                <a:spcPts val="1800"/>
              </a:lnSpc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text</a:t>
            </a:r>
          </a:p>
        </p:txBody>
      </p:sp>
    </p:spTree>
    <p:extLst>
      <p:ext uri="{BB962C8B-B14F-4D97-AF65-F5344CB8AC3E}">
        <p14:creationId xmlns:p14="http://schemas.microsoft.com/office/powerpoint/2010/main" val="3237563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lette Balance act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anchor="b" anchorCtr="0">
            <a:normAutofit/>
          </a:bodyPr>
          <a:lstStyle>
            <a:lvl1pPr>
              <a:lnSpc>
                <a:spcPts val="4000"/>
              </a:lnSpc>
              <a:defRPr sz="3200" cap="all" baseline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675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ersive palette Balancing Ac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869985-B973-4011-9FA2-83D7EBB2EA53}"/>
              </a:ext>
            </a:extLst>
          </p:cNvPr>
          <p:cNvSpPr/>
          <p:nvPr/>
        </p:nvSpPr>
        <p:spPr>
          <a:xfrm>
            <a:off x="0" y="2400300"/>
            <a:ext cx="4267200" cy="4457700"/>
          </a:xfrm>
          <a:prstGeom prst="rect">
            <a:avLst/>
          </a:prstGeom>
          <a:solidFill>
            <a:srgbClr val="D293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99032"/>
            <a:ext cx="3619501" cy="87782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54500" y="0"/>
            <a:ext cx="74803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5D44F0-DADD-4DCC-82EC-FDB3E9878AA9}"/>
              </a:ext>
            </a:extLst>
          </p:cNvPr>
          <p:cNvSpPr/>
          <p:nvPr/>
        </p:nvSpPr>
        <p:spPr>
          <a:xfrm>
            <a:off x="11734800" y="4445000"/>
            <a:ext cx="457200" cy="2413000"/>
          </a:xfrm>
          <a:prstGeom prst="rect">
            <a:avLst/>
          </a:prstGeom>
          <a:solidFill>
            <a:srgbClr val="884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CFE2C9-8B6E-4DDA-A5EA-04581F7629F0}"/>
              </a:ext>
            </a:extLst>
          </p:cNvPr>
          <p:cNvSpPr/>
          <p:nvPr/>
        </p:nvSpPr>
        <p:spPr>
          <a:xfrm>
            <a:off x="11734800" y="0"/>
            <a:ext cx="457200" cy="4462272"/>
          </a:xfrm>
          <a:prstGeom prst="rect">
            <a:avLst/>
          </a:prstGeom>
          <a:solidFill>
            <a:srgbClr val="86A2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457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/>
          <p:cNvSpPr/>
          <p:nvPr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6FEDCD9-19A7-423B-ABE0-DDD032DE8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7467601" cy="1572768"/>
          </a:xfrm>
        </p:spPr>
        <p:txBody>
          <a:bodyPr/>
          <a:lstStyle>
            <a:lvl1pPr>
              <a:lnSpc>
                <a:spcPts val="46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EBD7372B-17B4-4062-8BFA-745581B273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540000"/>
            <a:ext cx="6591300" cy="34036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buFont typeface="+mj-lt"/>
              <a:buAutoNum type="arabicPeriod"/>
              <a:defRPr sz="18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9A28F9-9D68-48A2-A1AD-C1C318C0EC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5300" y="1384300"/>
            <a:ext cx="3410712" cy="4572000"/>
          </a:xfrm>
          <a:prstGeom prst="roundRect">
            <a:avLst>
              <a:gd name="adj" fmla="val 2543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765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825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30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17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lette Wellspring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anchor="b" anchorCtr="0">
            <a:normAutofit/>
          </a:bodyPr>
          <a:lstStyle>
            <a:lvl1pPr>
              <a:lnSpc>
                <a:spcPts val="4000"/>
              </a:lnSpc>
              <a:defRPr sz="32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59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ersive palette Wellspr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86ECD6-DF3C-4CA6-9A77-ED32AC37F81F}"/>
              </a:ext>
            </a:extLst>
          </p:cNvPr>
          <p:cNvSpPr/>
          <p:nvPr/>
        </p:nvSpPr>
        <p:spPr>
          <a:xfrm>
            <a:off x="0" y="0"/>
            <a:ext cx="2445488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3F081E-4462-4B33-A41E-0432A3B439D9}"/>
              </a:ext>
            </a:extLst>
          </p:cNvPr>
          <p:cNvSpPr/>
          <p:nvPr/>
        </p:nvSpPr>
        <p:spPr>
          <a:xfrm rot="5400000">
            <a:off x="10740656" y="5406656"/>
            <a:ext cx="2445488" cy="457200"/>
          </a:xfrm>
          <a:prstGeom prst="rect">
            <a:avLst/>
          </a:prstGeom>
          <a:solidFill>
            <a:srgbClr val="8A58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5FA2D1-6BF4-4194-B815-8C66D013FD27}"/>
              </a:ext>
            </a:extLst>
          </p:cNvPr>
          <p:cNvSpPr/>
          <p:nvPr/>
        </p:nvSpPr>
        <p:spPr>
          <a:xfrm>
            <a:off x="7982712" y="495300"/>
            <a:ext cx="3753612" cy="594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88F0DF-BC0B-473C-82DC-7FC46D38FAC1}"/>
              </a:ext>
            </a:extLst>
          </p:cNvPr>
          <p:cNvSpPr/>
          <p:nvPr/>
        </p:nvSpPr>
        <p:spPr>
          <a:xfrm>
            <a:off x="4251158" y="495300"/>
            <a:ext cx="3787056" cy="594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09160" y="960120"/>
            <a:ext cx="6574536" cy="507492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F3E524-6AEB-4529-804C-0B9CD9992050}"/>
              </a:ext>
            </a:extLst>
          </p:cNvPr>
          <p:cNvSpPr/>
          <p:nvPr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FF2CAC-AD21-48FA-AD68-A643AAA6A8C4}"/>
              </a:ext>
            </a:extLst>
          </p:cNvPr>
          <p:cNvCxnSpPr>
            <a:cxnSpLocks/>
          </p:cNvCxnSpPr>
          <p:nvPr/>
        </p:nvCxnSpPr>
        <p:spPr>
          <a:xfrm>
            <a:off x="228600" y="2415910"/>
            <a:ext cx="4022558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71600"/>
            <a:ext cx="3619501" cy="877824"/>
          </a:xfrm>
        </p:spPr>
        <p:txBody>
          <a:bodyPr/>
          <a:lstStyle>
            <a:lvl1pPr>
              <a:lnSpc>
                <a:spcPts val="432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027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lette Star of the show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anchor="t" anchorCtr="0">
            <a:normAutofit/>
          </a:bodyPr>
          <a:lstStyle>
            <a:lvl1pPr>
              <a:lnSpc>
                <a:spcPts val="4000"/>
              </a:lnSpc>
              <a:defRPr sz="32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464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ersive palette Star of the sh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62B86F-90E5-425E-9F83-8477D8111E1D}"/>
              </a:ext>
            </a:extLst>
          </p:cNvPr>
          <p:cNvSpPr/>
          <p:nvPr/>
        </p:nvSpPr>
        <p:spPr>
          <a:xfrm>
            <a:off x="0" y="495300"/>
            <a:ext cx="6057900" cy="133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269853-3C2C-4F9C-B1BB-E00F7A1DB9E1}"/>
              </a:ext>
            </a:extLst>
          </p:cNvPr>
          <p:cNvSpPr/>
          <p:nvPr/>
        </p:nvSpPr>
        <p:spPr>
          <a:xfrm>
            <a:off x="6530703" y="495300"/>
            <a:ext cx="2931587" cy="2628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759D58-52AF-4785-8A33-F528F46D88A3}"/>
              </a:ext>
            </a:extLst>
          </p:cNvPr>
          <p:cNvSpPr/>
          <p:nvPr/>
        </p:nvSpPr>
        <p:spPr>
          <a:xfrm>
            <a:off x="8852618" y="3863713"/>
            <a:ext cx="2921000" cy="259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D3E0F4-EC0D-43C2-AC84-A53134C8566E}"/>
              </a:ext>
            </a:extLst>
          </p:cNvPr>
          <p:cNvSpPr/>
          <p:nvPr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5638801" cy="1572126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489200"/>
            <a:ext cx="5202936" cy="354787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97700" y="914400"/>
            <a:ext cx="4334256" cy="5093208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92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lette Amusements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anchor="b" anchorCtr="0">
            <a:normAutofit/>
          </a:bodyPr>
          <a:lstStyle>
            <a:lvl1pPr>
              <a:lnSpc>
                <a:spcPts val="4000"/>
              </a:lnSpc>
              <a:defRPr sz="32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005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ersive palette Amusemen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3A3BC27-A809-4F76-931E-2DE01059A5AB}"/>
              </a:ext>
            </a:extLst>
          </p:cNvPr>
          <p:cNvSpPr/>
          <p:nvPr/>
        </p:nvSpPr>
        <p:spPr>
          <a:xfrm>
            <a:off x="6712974" y="1651000"/>
            <a:ext cx="460459" cy="5207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6A5108-5EBA-43CE-BA4A-DA9EEF5D808A}"/>
              </a:ext>
            </a:extLst>
          </p:cNvPr>
          <p:cNvSpPr/>
          <p:nvPr/>
        </p:nvSpPr>
        <p:spPr>
          <a:xfrm>
            <a:off x="9271000" y="0"/>
            <a:ext cx="2921000" cy="539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712910-50D0-4906-AB08-F37D02F96D4A}"/>
              </a:ext>
            </a:extLst>
          </p:cNvPr>
          <p:cNvSpPr/>
          <p:nvPr/>
        </p:nvSpPr>
        <p:spPr>
          <a:xfrm>
            <a:off x="0" y="2387600"/>
            <a:ext cx="5461000" cy="215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AC760C-BE23-4DA2-A294-3B5668F8AECA}"/>
              </a:ext>
            </a:extLst>
          </p:cNvPr>
          <p:cNvSpPr/>
          <p:nvPr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5605272" cy="1572126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072384"/>
            <a:ext cx="4946904" cy="287121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78040" y="457200"/>
            <a:ext cx="4562856" cy="6400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087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189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388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9860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7835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4660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8644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4189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07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0527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2827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2581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2677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0010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1779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374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4862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950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17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35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>
          <p15:clr>
            <a:srgbClr val="F26B43"/>
          </p15:clr>
        </p15:guide>
        <p15:guide id="2" pos="2568">
          <p15:clr>
            <a:srgbClr val="F26B43"/>
          </p15:clr>
        </p15:guide>
        <p15:guide id="3" pos="288">
          <p15:clr>
            <a:srgbClr val="5ACBF0"/>
          </p15:clr>
        </p15:guide>
        <p15:guide id="4" pos="7392">
          <p15:clr>
            <a:srgbClr val="5ACBF0"/>
          </p15:clr>
        </p15:guide>
        <p15:guide id="5" orient="horz" pos="576">
          <p15:clr>
            <a:srgbClr val="5ACBF0"/>
          </p15:clr>
        </p15:guide>
        <p15:guide id="6" orient="horz" pos="374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10904-DE8F-4B8E-99C6-5AFA03672FFA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FADE3-B84E-4AF7-91CC-AB47E1A436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781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>
          <p15:clr>
            <a:srgbClr val="F26B43"/>
          </p15:clr>
        </p15:guide>
        <p15:guide id="2" pos="2568">
          <p15:clr>
            <a:srgbClr val="F26B43"/>
          </p15:clr>
        </p15:guide>
        <p15:guide id="3" pos="288">
          <p15:clr>
            <a:srgbClr val="5ACBF0"/>
          </p15:clr>
        </p15:guide>
        <p15:guide id="4" pos="7392">
          <p15:clr>
            <a:srgbClr val="5ACBF0"/>
          </p15:clr>
        </p15:guide>
        <p15:guide id="5" orient="horz" pos="576">
          <p15:clr>
            <a:srgbClr val="5ACBF0"/>
          </p15:clr>
        </p15:guide>
        <p15:guide id="6" orient="horz" pos="3744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10904-DE8F-4B8E-99C6-5AFA03672FFA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FADE3-B84E-4AF7-91CC-AB47E1A436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59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>
          <p15:clr>
            <a:srgbClr val="F26B43"/>
          </p15:clr>
        </p15:guide>
        <p15:guide id="2" pos="2568">
          <p15:clr>
            <a:srgbClr val="F26B43"/>
          </p15:clr>
        </p15:guide>
        <p15:guide id="3" pos="288">
          <p15:clr>
            <a:srgbClr val="5ACBF0"/>
          </p15:clr>
        </p15:guide>
        <p15:guide id="4" pos="7392">
          <p15:clr>
            <a:srgbClr val="5ACBF0"/>
          </p15:clr>
        </p15:guide>
        <p15:guide id="5" orient="horz" pos="576">
          <p15:clr>
            <a:srgbClr val="5ACBF0"/>
          </p15:clr>
        </p15:guide>
        <p15:guide id="6" orient="horz" pos="3744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10904-DE8F-4B8E-99C6-5AFA03672FFA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FADE3-B84E-4AF7-91CC-AB47E1A436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03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>
          <p15:clr>
            <a:srgbClr val="F26B43"/>
          </p15:clr>
        </p15:guide>
        <p15:guide id="2" pos="2568">
          <p15:clr>
            <a:srgbClr val="F26B43"/>
          </p15:clr>
        </p15:guide>
        <p15:guide id="3" pos="288">
          <p15:clr>
            <a:srgbClr val="5ACBF0"/>
          </p15:clr>
        </p15:guide>
        <p15:guide id="4" pos="7392">
          <p15:clr>
            <a:srgbClr val="5ACBF0"/>
          </p15:clr>
        </p15:guide>
        <p15:guide id="5" orient="horz" pos="576">
          <p15:clr>
            <a:srgbClr val="5ACBF0"/>
          </p15:clr>
        </p15:guide>
        <p15:guide id="6" orient="horz" pos="3744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C4CD63F-4254-43CA-B11F-4FA8520F2544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24C01-F4D6-4CAF-A671-178FD5694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6603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2088DA-3F4A-838C-4A91-B2A3F1769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2CBA924-56BB-A4BD-F039-3FBA1B693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890" y="2345686"/>
            <a:ext cx="9404723" cy="942946"/>
          </a:xfrm>
        </p:spPr>
        <p:style>
          <a:lnRef idx="1">
            <a:schemeClr val="accent3"/>
          </a:lnRef>
          <a:fillRef idx="1002">
            <a:schemeClr val="dk2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5400" b="1" dirty="0">
                <a:latin typeface="Baskerville Old Face" panose="02020602080505020303" pitchFamily="18" charset="0"/>
              </a:rPr>
              <a:t>SPOTIFY ANALYSIS</a:t>
            </a:r>
            <a:endParaRPr lang="en-IN" sz="5400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04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4AB5F-4F7C-BB8C-E45C-961308CD1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79162C-2012-D382-F7CB-8E74FA43A76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duotone>
              <a:prstClr val="black"/>
              <a:srgbClr val="006600">
                <a:tint val="45000"/>
                <a:satMod val="400000"/>
              </a:srgbClr>
            </a:duotone>
            <a:alphaModFix amt="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942" y="1223175"/>
            <a:ext cx="7362115" cy="445754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F850A79-DA2E-C699-79F2-97D089F4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524" y="991556"/>
            <a:ext cx="8825657" cy="736873"/>
          </a:xfrm>
        </p:spPr>
        <p:txBody>
          <a:bodyPr/>
          <a:lstStyle/>
          <a:p>
            <a:r>
              <a:rPr lang="en-US" sz="3200" b="1" u="sng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STEPS IN THE PROJECT</a:t>
            </a:r>
            <a:endParaRPr lang="en-IN" sz="3200" b="1" u="sng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C90D2-9CCC-CBAB-585D-FD38C68C5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524" y="1960048"/>
            <a:ext cx="9615866" cy="4694686"/>
          </a:xfrm>
        </p:spPr>
        <p:txBody>
          <a:bodyPr>
            <a:normAutofit fontScale="55000" lnSpcReduction="20000"/>
          </a:bodyPr>
          <a:lstStyle/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5100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Business Requirements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5100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Connection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5100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Cleaning / Quality Check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5100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Modeling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5100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Processing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5100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DAX Calculations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5100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Dashboard Lay Outing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5100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Charts Development And Formatting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5100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Dashboard / Report Development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5100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Insights Generation</a:t>
            </a:r>
          </a:p>
          <a:p>
            <a:endParaRPr lang="en-IN" sz="2200" dirty="0">
              <a:solidFill>
                <a:schemeClr val="tx1"/>
              </a:solidFill>
            </a:endParaRPr>
          </a:p>
          <a:p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9FBE155-9661-09D5-44F6-7FBC108880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3" b="16210"/>
          <a:stretch>
            <a:fillRect/>
          </a:stretch>
        </p:blipFill>
        <p:spPr bwMode="auto">
          <a:xfrm>
            <a:off x="4963048" y="-158907"/>
            <a:ext cx="2265904" cy="108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BI - Udemy Business">
            <a:extLst>
              <a:ext uri="{FF2B5EF4-FFF2-40B4-BE49-F238E27FC236}">
                <a16:creationId xmlns:a16="http://schemas.microsoft.com/office/drawing/2014/main" id="{1F1AC232-A439-1F9E-A3D1-9DCDAFAF7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390" y="5929888"/>
            <a:ext cx="1738839" cy="72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077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0ECF1-F27B-D90B-1EA7-6AA309B3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30B2E7-91E3-64CD-27D6-D968423D8A9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duotone>
              <a:prstClr val="black"/>
              <a:srgbClr val="006600">
                <a:tint val="45000"/>
                <a:satMod val="400000"/>
              </a:srgbClr>
            </a:duotone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446" y="1177276"/>
            <a:ext cx="7325108" cy="443514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91DD204-19F4-4A23-1B9D-90AC41F5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19" y="831829"/>
            <a:ext cx="8825657" cy="736873"/>
          </a:xfrm>
        </p:spPr>
        <p:txBody>
          <a:bodyPr/>
          <a:lstStyle/>
          <a:p>
            <a:r>
              <a:rPr lang="en-IN" sz="3200" b="1" u="sng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BUSINESS REQUIREMENT</a:t>
            </a:r>
            <a:endParaRPr lang="en-IN" sz="2400" u="sng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Aharoni" panose="02010803020104030203" pitchFamily="2" charset="-79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A30EF-24B1-9004-17FA-4B815C607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219" y="1684421"/>
            <a:ext cx="11492256" cy="4970314"/>
          </a:xfrm>
        </p:spPr>
        <p:txBody>
          <a:bodyPr>
            <a:normAutofit/>
          </a:bodyPr>
          <a:lstStyle/>
          <a:p>
            <a:pPr fontAlgn="base"/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By analysing Spotify user behaviour, we aim to transform streaming numbers into actionable insights that inform smarter content, curation, and marketing decisions.</a:t>
            </a:r>
          </a:p>
          <a:p>
            <a:pPr fontAlgn="base"/>
            <a:r>
              <a:rPr lang="en-US" sz="2400" b="1" cap="none" dirty="0">
                <a:latin typeface="Baskerville Old Face" panose="02020602080505020303" pitchFamily="18" charset="0"/>
                <a:ea typeface="Cambria" panose="02040503050406030204" pitchFamily="18" charset="0"/>
              </a:rPr>
              <a:t>ALBUMS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 albums played over time</a:t>
            </a:r>
            <a:r>
              <a:rPr lang="en-US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Track how album listening trends change over months and years</a:t>
            </a:r>
            <a:r>
              <a:rPr lang="en-US" cap="none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br>
              <a:rPr lang="en-US" cap="none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Number of albums listened by year</a:t>
            </a:r>
            <a:r>
              <a:rPr lang="en-US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Identify annual listening habits and volume (find the min and   max albums in the view).</a:t>
            </a:r>
          </a:p>
          <a:p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Albums played on weekdays &amp; weekends </a:t>
            </a:r>
            <a:r>
              <a:rPr lang="en-US" b="1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Identify the pattern of music listening on weekdays and  weekends.</a:t>
            </a:r>
            <a:b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Top 5 albums</a:t>
            </a:r>
            <a:r>
              <a:rPr lang="en-US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Identify the most played albums based on listening frequency.</a:t>
            </a:r>
          </a:p>
          <a:p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Latest year vs previous year analysis</a:t>
            </a:r>
            <a:r>
              <a:rPr lang="en-US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Compare album consumption between the latest and previous years, including:</a:t>
            </a:r>
          </a:p>
          <a:p>
            <a:pPr fontAlgn="base"/>
            <a:r>
              <a:rPr lang="en-US" b="1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 I.    LY (latest year) vs PY (previous year) trends</a:t>
            </a:r>
          </a:p>
          <a:p>
            <a:pPr fontAlgn="base"/>
            <a:r>
              <a:rPr lang="en-US" b="1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II.  Yoy (year-over-year) growth analysis</a:t>
            </a:r>
          </a:p>
          <a:p>
            <a:pPr fontAlgn="base"/>
            <a:endParaRPr lang="en-US" b="1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cap="none" dirty="0">
              <a:solidFill>
                <a:schemeClr val="tx1"/>
              </a:solidFill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03EE01D-6B79-A47D-99DC-EC9F75F3E6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3" b="16210"/>
          <a:stretch>
            <a:fillRect/>
          </a:stretch>
        </p:blipFill>
        <p:spPr bwMode="auto">
          <a:xfrm>
            <a:off x="4963048" y="-158907"/>
            <a:ext cx="2265904" cy="108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BI - Udemy Business">
            <a:extLst>
              <a:ext uri="{FF2B5EF4-FFF2-40B4-BE49-F238E27FC236}">
                <a16:creationId xmlns:a16="http://schemas.microsoft.com/office/drawing/2014/main" id="{3CDD66C8-3EF4-5373-7194-3D2AF4AA3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390" y="5929888"/>
            <a:ext cx="1738839" cy="72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6713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14ABC-0B4A-7986-21C7-E20CF8A43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1710EE-1BB2-6BCB-93F1-5F0756A1A40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duotone>
              <a:prstClr val="black"/>
              <a:srgbClr val="006600">
                <a:tint val="45000"/>
                <a:satMod val="400000"/>
              </a:srgbClr>
            </a:duotone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446" y="1177276"/>
            <a:ext cx="7325108" cy="443514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A215FAF-3189-3449-17B9-054F89B7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19" y="831829"/>
            <a:ext cx="8825657" cy="736873"/>
          </a:xfrm>
        </p:spPr>
        <p:txBody>
          <a:bodyPr/>
          <a:lstStyle/>
          <a:p>
            <a:r>
              <a:rPr lang="en-IN" sz="3200" b="1" u="sng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BUSINESS REQUIREMENT</a:t>
            </a:r>
            <a:endParaRPr lang="en-IN" sz="2400" u="sng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Aharoni" panose="02010803020104030203" pitchFamily="2" charset="-79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89849-930E-5AFB-4E69-47C4505AF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219" y="1684421"/>
            <a:ext cx="11340009" cy="4970314"/>
          </a:xfrm>
        </p:spPr>
        <p:txBody>
          <a:bodyPr>
            <a:normAutofit/>
          </a:bodyPr>
          <a:lstStyle/>
          <a:p>
            <a:endParaRPr lang="en-US" sz="2400" dirty="0">
              <a:latin typeface="Baskerville Old Face" panose="02020602080505020303" pitchFamily="18" charset="0"/>
            </a:endParaRPr>
          </a:p>
          <a:p>
            <a:r>
              <a:rPr lang="en-US" sz="2400" b="1" dirty="0">
                <a:latin typeface="Baskerville Old Face" panose="02020602080505020303" pitchFamily="18" charset="0"/>
              </a:rPr>
              <a:t>ARTISTS</a:t>
            </a:r>
            <a:endParaRPr lang="en-US" b="1" dirty="0"/>
          </a:p>
          <a:p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 artists played over time</a:t>
            </a:r>
            <a:r>
              <a:rPr lang="en-US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en-US" cap="none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Track how artist listening trends evolve across months and years.</a:t>
            </a:r>
          </a:p>
          <a:p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Number of artists listened by year</a:t>
            </a:r>
            <a:r>
              <a:rPr lang="en-US" cap="none" dirty="0">
                <a:solidFill>
                  <a:schemeClr val="accent6">
                    <a:lumMod val="20000"/>
                    <a:lumOff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en-US" cap="none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Identify annual listening habits and artist diversity. (Find the min and max artists in the view.)</a:t>
            </a:r>
          </a:p>
          <a:p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Artists played on weekdays &amp; weekends </a:t>
            </a:r>
            <a:r>
              <a:rPr lang="en-US" b="1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I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dentify the pattern of music listening on weekdays and weekends.</a:t>
            </a:r>
            <a:br>
              <a:rPr lang="en-US" cap="none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Top 5 artists</a:t>
            </a:r>
            <a:r>
              <a:rPr lang="en-US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Identify the most played artists based on listening frequency.</a:t>
            </a:r>
          </a:p>
          <a:p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Latest year vs previous year analysis</a:t>
            </a:r>
            <a:r>
              <a:rPr lang="en-US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Compare artist engagement between the latest and previous years, including:</a:t>
            </a:r>
          </a:p>
          <a:p>
            <a:pPr fontAlgn="base"/>
            <a:r>
              <a:rPr lang="en-US" b="1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I.   LY (latest year) vs PY (previous year) trends</a:t>
            </a:r>
          </a:p>
          <a:p>
            <a:pPr fontAlgn="base"/>
            <a:r>
              <a:rPr lang="en-US" b="1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II.  Yoy (year-over-year) growth analysis</a:t>
            </a:r>
          </a:p>
          <a:p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2047A78-6338-8C6C-A7F4-EA1AD90BEB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3" b="16210"/>
          <a:stretch>
            <a:fillRect/>
          </a:stretch>
        </p:blipFill>
        <p:spPr bwMode="auto">
          <a:xfrm>
            <a:off x="4963048" y="-158907"/>
            <a:ext cx="2265904" cy="108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BI - Udemy Business">
            <a:extLst>
              <a:ext uri="{FF2B5EF4-FFF2-40B4-BE49-F238E27FC236}">
                <a16:creationId xmlns:a16="http://schemas.microsoft.com/office/drawing/2014/main" id="{39096051-9DC5-8664-5F74-6F2CA4B94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390" y="5929888"/>
            <a:ext cx="1738839" cy="72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222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A3E1E-22EF-8652-6DF1-78594B516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AB0CE3-D511-F79A-6AD5-9D0F91EAD45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duotone>
              <a:prstClr val="black"/>
              <a:srgbClr val="006600">
                <a:tint val="45000"/>
                <a:satMod val="400000"/>
              </a:srgbClr>
            </a:duotone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446" y="1177276"/>
            <a:ext cx="7325108" cy="443514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CF2254D-A902-940A-2FB8-46C5EBD6C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19" y="831829"/>
            <a:ext cx="8825657" cy="736873"/>
          </a:xfrm>
        </p:spPr>
        <p:txBody>
          <a:bodyPr/>
          <a:lstStyle/>
          <a:p>
            <a:r>
              <a:rPr lang="en-IN" sz="3200" b="1" u="sng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BUSINESS REQUIREMENT</a:t>
            </a:r>
            <a:endParaRPr lang="en-IN" sz="2400" u="sng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Aharoni" panose="02010803020104030203" pitchFamily="2" charset="-79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FC3FD-D72D-972B-5B56-B4D8A2AF2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219" y="1568702"/>
            <a:ext cx="11340009" cy="5086032"/>
          </a:xfrm>
        </p:spPr>
        <p:txBody>
          <a:bodyPr>
            <a:normAutofit fontScale="92500"/>
          </a:bodyPr>
          <a:lstStyle/>
          <a:p>
            <a:endParaRPr lang="en-US" sz="2400" dirty="0">
              <a:latin typeface="Baskerville Old Face" panose="02020602080505020303" pitchFamily="18" charset="0"/>
            </a:endParaRPr>
          </a:p>
          <a:p>
            <a:r>
              <a:rPr lang="en-US" sz="2600" b="1" dirty="0">
                <a:latin typeface="Baskerville Old Face" panose="02020602080505020303" pitchFamily="18" charset="0"/>
              </a:rPr>
              <a:t>Tracks</a:t>
            </a:r>
          </a:p>
          <a:p>
            <a:r>
              <a:rPr lang="en-US" sz="2200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 tracks played over time</a:t>
            </a:r>
            <a:r>
              <a:rPr lang="en-US" sz="2200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Monitor how track listening trends change across months and years</a:t>
            </a:r>
          </a:p>
          <a:p>
            <a:r>
              <a:rPr lang="en-US" sz="2200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Number of tracks listened by year</a:t>
            </a:r>
            <a:r>
              <a:rPr lang="en-US" sz="2200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Identify annual listening habits and track diversity. (Find the min and max tracks in the view).</a:t>
            </a:r>
          </a:p>
          <a:p>
            <a:r>
              <a:rPr lang="en-US" sz="2200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Tracks played on weekdays &amp; weekends </a:t>
            </a:r>
            <a:r>
              <a:rPr lang="en-US" sz="2200" b="1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I</a:t>
            </a:r>
            <a:r>
              <a:rPr lang="en-US" sz="2200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dentify the pattern of music listening on weekdays and weekends.</a:t>
            </a:r>
          </a:p>
          <a:p>
            <a:r>
              <a:rPr lang="en-US" sz="2200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Top 5 tracks</a:t>
            </a:r>
            <a:r>
              <a:rPr lang="en-US" sz="2200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Identify the most played tracks based on listening frequency.</a:t>
            </a:r>
          </a:p>
          <a:p>
            <a:r>
              <a:rPr lang="en-US" sz="2200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Latest year vs previous year analysis</a:t>
            </a:r>
            <a:r>
              <a:rPr lang="en-US" sz="2200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Compare track engagement between the latest and previous years, including:</a:t>
            </a:r>
          </a:p>
          <a:p>
            <a:pPr fontAlgn="base"/>
            <a:r>
              <a:rPr lang="en-US" sz="2200" b="1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I.  LY (latest year) vs PY (previous year) trends</a:t>
            </a:r>
          </a:p>
          <a:p>
            <a:pPr fontAlgn="base"/>
            <a:r>
              <a:rPr lang="en-US" sz="2200" b="1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II.  Yoy (year-over-year) growth analysis</a:t>
            </a:r>
          </a:p>
          <a:p>
            <a:endParaRPr lang="en-US" sz="2400" dirty="0">
              <a:latin typeface="Baskerville Old Face" panose="02020602080505020303" pitchFamily="18" charset="0"/>
            </a:endParaRPr>
          </a:p>
          <a:p>
            <a:endParaRPr lang="en-IN" dirty="0">
              <a:latin typeface="Baskerville Old Face" panose="02020602080505020303" pitchFamily="18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661F0F7-9909-73E1-0B34-666A04E72D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3" b="16210"/>
          <a:stretch>
            <a:fillRect/>
          </a:stretch>
        </p:blipFill>
        <p:spPr bwMode="auto">
          <a:xfrm>
            <a:off x="4963048" y="-158907"/>
            <a:ext cx="2265904" cy="108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BI - Udemy Business">
            <a:extLst>
              <a:ext uri="{FF2B5EF4-FFF2-40B4-BE49-F238E27FC236}">
                <a16:creationId xmlns:a16="http://schemas.microsoft.com/office/drawing/2014/main" id="{3134EBE9-5031-562D-5965-507269EC3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390" y="5929888"/>
            <a:ext cx="1738839" cy="72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499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C5168-5BAE-C6BC-1D0F-9C4E36299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0CDE8C-D367-B26C-ECF4-2C80B272069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duotone>
              <a:prstClr val="black"/>
              <a:srgbClr val="006600">
                <a:tint val="45000"/>
                <a:satMod val="400000"/>
              </a:srgbClr>
            </a:duotone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446" y="1177276"/>
            <a:ext cx="7325108" cy="443514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9C3428E-AD03-949C-7AB4-70578E2C5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19" y="831829"/>
            <a:ext cx="8825657" cy="736873"/>
          </a:xfrm>
        </p:spPr>
        <p:txBody>
          <a:bodyPr/>
          <a:lstStyle/>
          <a:p>
            <a:r>
              <a:rPr lang="en-IN" sz="3200" b="1" u="sng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BUSINESS REQUIREMENT</a:t>
            </a:r>
            <a:endParaRPr lang="en-IN" sz="2400" u="sng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Aharoni" panose="02010803020104030203" pitchFamily="2" charset="-79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243E1-A6DD-AAC3-B547-544279B8C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219" y="1684421"/>
            <a:ext cx="11340009" cy="4970314"/>
          </a:xfrm>
        </p:spPr>
        <p:txBody>
          <a:bodyPr>
            <a:normAutofit/>
          </a:bodyPr>
          <a:lstStyle/>
          <a:p>
            <a:endParaRPr lang="en-US" sz="2400" b="1" dirty="0">
              <a:latin typeface="Baskerville Old Face" panose="02020602080505020303" pitchFamily="18" charset="0"/>
            </a:endParaRPr>
          </a:p>
          <a:p>
            <a:r>
              <a:rPr lang="en-US" sz="2400" b="1" dirty="0">
                <a:latin typeface="Baskerville Old Face" panose="02020602080505020303" pitchFamily="18" charset="0"/>
              </a:rPr>
              <a:t>Listening patterns</a:t>
            </a:r>
          </a:p>
          <a:p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Listening hours analysis</a:t>
            </a:r>
            <a:r>
              <a:rPr lang="en-US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identify peak listening times using a </a:t>
            </a:r>
            <a:r>
              <a:rPr lang="en-US" b="1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heat map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that visualizes patterns across hours and days with color intensity.</a:t>
            </a:r>
            <a:b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listening time (min) vs track frequency</a:t>
            </a:r>
            <a:r>
              <a:rPr lang="en-US" cap="none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use a </a:t>
            </a:r>
            <a:r>
              <a:rPr lang="en-US" b="1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scatter plot with quadrant analysis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to categorize tracks based on:</a:t>
            </a:r>
          </a:p>
          <a:p>
            <a:pPr fontAlgn="base"/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 frequency &amp; high listening time</a:t>
            </a:r>
            <a:r>
              <a:rPr lang="en-US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most engaging tracks </a:t>
            </a:r>
            <a:endParaRPr lang="en-US" b="1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/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Low frequency &amp; high listening time</a:t>
            </a:r>
            <a:r>
              <a:rPr lang="en-US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niche but impactful tracks</a:t>
            </a:r>
            <a:endParaRPr lang="en-US" b="1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/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 frequency &amp; low listening time</a:t>
            </a:r>
            <a:r>
              <a:rPr lang="en-US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short &amp; frequently played tracks</a:t>
            </a:r>
            <a:endParaRPr lang="en-US" b="1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/>
            <a:r>
              <a:rPr lang="en-US" b="1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Low frequency &amp; low listening time</a:t>
            </a:r>
            <a:r>
              <a:rPr lang="en-US" cap="none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less popular tracks</a:t>
            </a:r>
            <a:endParaRPr lang="en-US" b="1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C4380E6-F5D5-3394-7D5B-4F61D88B00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3" b="16210"/>
          <a:stretch>
            <a:fillRect/>
          </a:stretch>
        </p:blipFill>
        <p:spPr bwMode="auto">
          <a:xfrm>
            <a:off x="4963048" y="-158907"/>
            <a:ext cx="2265904" cy="108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BI - Udemy Business">
            <a:extLst>
              <a:ext uri="{FF2B5EF4-FFF2-40B4-BE49-F238E27FC236}">
                <a16:creationId xmlns:a16="http://schemas.microsoft.com/office/drawing/2014/main" id="{E91DDA38-ECAC-C2B3-E4AE-0F4D8CAEC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390" y="5929888"/>
            <a:ext cx="1738839" cy="72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911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74224-8023-02EE-1222-995EB13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56AD19-2AA3-8409-96A1-9D1CC19B526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duotone>
              <a:prstClr val="black"/>
              <a:srgbClr val="006600">
                <a:tint val="45000"/>
                <a:satMod val="400000"/>
              </a:srgbClr>
            </a:duotone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446" y="1177276"/>
            <a:ext cx="7325108" cy="443514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21E40A8-41DE-4FFF-60EC-72A55ABEE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19" y="831829"/>
            <a:ext cx="8825657" cy="736873"/>
          </a:xfrm>
        </p:spPr>
        <p:txBody>
          <a:bodyPr/>
          <a:lstStyle/>
          <a:p>
            <a:r>
              <a:rPr lang="en-IN" sz="3200" b="1" u="sng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BUSINESS REQUIREMENT</a:t>
            </a:r>
            <a:endParaRPr lang="en-IN" sz="2400" u="sng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Aharoni" panose="02010803020104030203" pitchFamily="2" charset="-79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6A67B-1544-F0E1-CCF5-F83B7EF1E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219" y="1684421"/>
            <a:ext cx="11340009" cy="4970314"/>
          </a:xfrm>
        </p:spPr>
        <p:txBody>
          <a:bodyPr>
            <a:normAutofit lnSpcReduction="10000"/>
          </a:bodyPr>
          <a:lstStyle/>
          <a:p>
            <a:r>
              <a:rPr lang="en-US" sz="2800" b="1" dirty="0">
                <a:latin typeface="Baskerville Old Face" panose="02020602080505020303" pitchFamily="18" charset="0"/>
              </a:rPr>
              <a:t>Details Grid</a:t>
            </a:r>
          </a:p>
          <a:p>
            <a:r>
              <a:rPr lang="en-US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this report, we aim to analyze Spotify data by creating an interactive and dynamic </a:t>
            </a:r>
            <a:r>
              <a:rPr lang="en-US" b="1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grid view</a:t>
            </a:r>
            <a:r>
              <a:rPr lang="en-US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The grid will display key details such as </a:t>
            </a:r>
            <a:r>
              <a:rPr lang="en-US" b="1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album name, artist name, track name,</a:t>
            </a:r>
            <a:r>
              <a:rPr lang="en-US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other relevant attributes.</a:t>
            </a:r>
          </a:p>
          <a:p>
            <a:r>
              <a:rPr lang="en-US" b="1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requirements:</a:t>
            </a:r>
            <a:endParaRPr lang="en-US" cap="none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b="1" cap="none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Grid view with essential fields:</a:t>
            </a:r>
          </a:p>
          <a:p>
            <a:pPr fontAlgn="base"/>
            <a:r>
              <a:rPr lang="en-US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grid should present critical data points for an intuitive and structured view.</a:t>
            </a:r>
          </a:p>
          <a:p>
            <a:r>
              <a:rPr lang="en-US" b="1" cap="none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Drill through functionality:</a:t>
            </a:r>
            <a:endParaRPr lang="en-US" cap="none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Users should be able to drill through from the main reports to explore underlying data for detailed insights.</a:t>
            </a:r>
          </a:p>
          <a:p>
            <a:pPr fontAlgn="base"/>
            <a:r>
              <a:rPr lang="en-US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drilled-through data should be exportable to a CSV file based on user requirements.</a:t>
            </a:r>
          </a:p>
          <a:p>
            <a:r>
              <a:rPr lang="en-US" b="1" cap="none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Drill down, drill up, and hierarchy:</a:t>
            </a:r>
            <a:endParaRPr lang="en-US" cap="none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grid should support hierarchical navigation, allowing users to drill down and up for in-depth data exploration.</a:t>
            </a:r>
          </a:p>
          <a:p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22A6809-CFC7-6A96-95C7-86C2C2DFFB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3" b="16210"/>
          <a:stretch>
            <a:fillRect/>
          </a:stretch>
        </p:blipFill>
        <p:spPr bwMode="auto">
          <a:xfrm>
            <a:off x="4963048" y="-158907"/>
            <a:ext cx="2265904" cy="108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BI - Udemy Business">
            <a:extLst>
              <a:ext uri="{FF2B5EF4-FFF2-40B4-BE49-F238E27FC236}">
                <a16:creationId xmlns:a16="http://schemas.microsoft.com/office/drawing/2014/main" id="{69DA70EE-F694-2985-B25B-86DB0B257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390" y="5929888"/>
            <a:ext cx="1738839" cy="72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8433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7EC1A-0E21-FEB7-BBA7-16C0AF2E5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DFC359-4BFA-A7BE-F01F-73C7C78892A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duotone>
              <a:prstClr val="black"/>
              <a:srgbClr val="006600">
                <a:tint val="45000"/>
                <a:satMod val="400000"/>
              </a:srgbClr>
            </a:duotone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782" r="26782"/>
          <a:stretch/>
        </p:blipFill>
        <p:spPr>
          <a:xfrm>
            <a:off x="2759242" y="1143000"/>
            <a:ext cx="7390704" cy="457200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30F252E-845A-F196-1B0A-F7C66F516E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3" b="16210"/>
          <a:stretch>
            <a:fillRect/>
          </a:stretch>
        </p:blipFill>
        <p:spPr bwMode="auto">
          <a:xfrm>
            <a:off x="4963048" y="-158907"/>
            <a:ext cx="2265904" cy="108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BI - Udemy Business">
            <a:extLst>
              <a:ext uri="{FF2B5EF4-FFF2-40B4-BE49-F238E27FC236}">
                <a16:creationId xmlns:a16="http://schemas.microsoft.com/office/drawing/2014/main" id="{D7543F28-1B00-C1E4-509E-CC397DA91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390" y="5929888"/>
            <a:ext cx="1738839" cy="72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8919D8-2D77-D224-5549-D510D1906F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75"/>
          <a:stretch>
            <a:fillRect/>
          </a:stretch>
        </p:blipFill>
        <p:spPr>
          <a:xfrm>
            <a:off x="5486401" y="1780674"/>
            <a:ext cx="6455375" cy="4149214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DA0A741C-BCCF-D38C-A7E6-A37775E2632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319089" y="1200867"/>
            <a:ext cx="516731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Baskerville Old Face" panose="02020602080505020303" pitchFamily="18" charset="0"/>
                <a:ea typeface="Cambria" panose="02040503050406030204" pitchFamily="18" charset="0"/>
              </a:rPr>
              <a:t>VISUAL SUMMARY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latin typeface="Baskerville Old Face" panose="02020602080505020303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Trends from 2016–2024 show major   growth until 2022, then a drop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Top Artists: The Beatles, The Killers, John Mayer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Listeners favor shorter tracks but replay them more frequently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r>
              <a:rPr kumimoji="0" lang="en-US" altLang="en-US" sz="2200" b="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Albums played dropped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20% in 2024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while artist diversity increased, indicating a shift in user preference from albums to single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s.</a:t>
            </a:r>
          </a:p>
        </p:txBody>
      </p:sp>
    </p:spTree>
    <p:extLst>
      <p:ext uri="{BB962C8B-B14F-4D97-AF65-F5344CB8AC3E}">
        <p14:creationId xmlns:p14="http://schemas.microsoft.com/office/powerpoint/2010/main" val="1269854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A02E0-A8A2-4A50-AA85-D2AE0686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2B1AEA-7D01-04B4-E726-F9D50A63E48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duotone>
              <a:prstClr val="black"/>
              <a:srgbClr val="006600">
                <a:tint val="45000"/>
                <a:satMod val="400000"/>
              </a:srgbClr>
            </a:duotone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446" y="1177276"/>
            <a:ext cx="7325108" cy="4435142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137C8596-690D-CAEB-BA82-D4E565428B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3" b="16210"/>
          <a:stretch>
            <a:fillRect/>
          </a:stretch>
        </p:blipFill>
        <p:spPr bwMode="auto">
          <a:xfrm>
            <a:off x="4963048" y="-158907"/>
            <a:ext cx="2265904" cy="108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BI - Udemy Business">
            <a:extLst>
              <a:ext uri="{FF2B5EF4-FFF2-40B4-BE49-F238E27FC236}">
                <a16:creationId xmlns:a16="http://schemas.microsoft.com/office/drawing/2014/main" id="{9193409F-4FC9-F283-E7CA-8C3905293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390" y="5929888"/>
            <a:ext cx="1738839" cy="72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screenshot of a computer screen">
            <a:extLst>
              <a:ext uri="{FF2B5EF4-FFF2-40B4-BE49-F238E27FC236}">
                <a16:creationId xmlns:a16="http://schemas.microsoft.com/office/drawing/2014/main" id="{2BD2DD56-93B8-D8D2-D062-3A0ED504D3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516" y="1277666"/>
            <a:ext cx="5223473" cy="468430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D43432D6-C024-11DA-E1CF-50B38EC7A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93726" y="2086889"/>
            <a:ext cx="596749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Baskerville Old Face" panose="02020602080505020303" pitchFamily="18" charset="0"/>
              </a:rPr>
              <a:t>LISTENING HOUR HEATMAP: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Baskerville Old Face" panose="02020602080505020303" pitchFamily="18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Peak listening hours: 12 AM – 3 AM and 5 PM – 10 PM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Weekends show more consistent usage across all hours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</a:t>
            </a:r>
            <a:r>
              <a:rPr kumimoji="0" lang="en-US" altLang="en-US" sz="2200" b="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Listening spikes occur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late at night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indicating high user engagement during off-work hours.</a:t>
            </a:r>
          </a:p>
        </p:txBody>
      </p:sp>
    </p:spTree>
    <p:extLst>
      <p:ext uri="{BB962C8B-B14F-4D97-AF65-F5344CB8AC3E}">
        <p14:creationId xmlns:p14="http://schemas.microsoft.com/office/powerpoint/2010/main" val="3568670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57C8F-989D-3FC1-BB4A-8299D85E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8D4D2A-0F9B-0098-BDB1-A4017D2764E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duotone>
              <a:prstClr val="black"/>
              <a:srgbClr val="006600">
                <a:tint val="45000"/>
                <a:satMod val="400000"/>
              </a:srgbClr>
            </a:duotone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446" y="1177276"/>
            <a:ext cx="7325108" cy="443514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893C11F-B513-FBD1-9397-A8594FA0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971" y="1245582"/>
            <a:ext cx="5474618" cy="4435142"/>
          </a:xfrm>
        </p:spPr>
        <p:txBody>
          <a:bodyPr/>
          <a:lstStyle/>
          <a:p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WHAT IT SHOWS:</a:t>
            </a:r>
            <a:b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</a:br>
            <a:br>
              <a:rPr lang="en-US" sz="2000" dirty="0"/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Segmentation of tracks into 4 quadrants based on :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Frequency (replays)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Avg listening time (engagement)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u="sng" dirty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Top-right: High-frequency + high-time →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most engaging tracks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Bottom-left: Low-frequency + low-time →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less popular or skipped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000" dirty="0">
              <a:solidFill>
                <a:schemeClr val="tx1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E53AEF9-27AC-3AB4-7162-4DE5C7AE2C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3" b="16210"/>
          <a:stretch>
            <a:fillRect/>
          </a:stretch>
        </p:blipFill>
        <p:spPr bwMode="auto">
          <a:xfrm>
            <a:off x="4963048" y="-158907"/>
            <a:ext cx="2265904" cy="108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BI - Udemy Business">
            <a:extLst>
              <a:ext uri="{FF2B5EF4-FFF2-40B4-BE49-F238E27FC236}">
                <a16:creationId xmlns:a16="http://schemas.microsoft.com/office/drawing/2014/main" id="{D9A4B9EF-85E9-6C36-85E2-F9423B0E9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390" y="5929888"/>
            <a:ext cx="1738839" cy="72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B584D0F-8D52-26E6-EAF7-A0B3F348F3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264" y="1177277"/>
            <a:ext cx="5197642" cy="491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29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04D8D-5272-02A1-F630-847C70E1C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9D83A5-C418-9A4D-5447-B2C68143DA4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duotone>
              <a:prstClr val="black"/>
              <a:srgbClr val="006600">
                <a:tint val="45000"/>
                <a:satMod val="400000"/>
              </a:srgbClr>
            </a:duotone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445" y="1177275"/>
            <a:ext cx="7849445" cy="4752613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66E6C8B-7D48-1065-9036-8D22C2E77B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3" b="16210"/>
          <a:stretch>
            <a:fillRect/>
          </a:stretch>
        </p:blipFill>
        <p:spPr bwMode="auto">
          <a:xfrm>
            <a:off x="4963048" y="-158907"/>
            <a:ext cx="2265904" cy="108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BI - Udemy Business">
            <a:extLst>
              <a:ext uri="{FF2B5EF4-FFF2-40B4-BE49-F238E27FC236}">
                <a16:creationId xmlns:a16="http://schemas.microsoft.com/office/drawing/2014/main" id="{FE767DFE-06D6-CAFB-5E17-BBB5222E1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390" y="5929888"/>
            <a:ext cx="1738839" cy="72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B19D25-DE77-3D0D-5DDA-CE8E5E3DF0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" t="12287" r="817"/>
          <a:stretch>
            <a:fillRect/>
          </a:stretch>
        </p:blipFill>
        <p:spPr>
          <a:xfrm>
            <a:off x="4963048" y="1177275"/>
            <a:ext cx="7026878" cy="475261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3B48C6A6-B362-98B8-74EB-DA3AB0634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9846" y="1767007"/>
            <a:ext cx="420486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Baskerville Old Face" panose="02020602080505020303" pitchFamily="18" charset="0"/>
              </a:rPr>
              <a:t>DATA DETAILS: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Grid view provides a detailed  breakdown by Album, Artist, and Track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Includes milliseconds_played, calculated listening time, and drill-downs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310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EBF83-58EE-D918-AFBE-62582BA0D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C2EBAA-7DC4-82AB-842E-15638C8DDB9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duotone>
              <a:prstClr val="black"/>
              <a:srgbClr val="006600">
                <a:tint val="45000"/>
                <a:satMod val="400000"/>
              </a:srgbClr>
            </a:duotone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305" y="1548861"/>
            <a:ext cx="8518358" cy="4200244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9ED9F6-742F-909A-9947-F7AF31C74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10190" y="1548861"/>
            <a:ext cx="8518358" cy="4200244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LEARNING &amp; TAKEAWAYS :</a:t>
            </a:r>
            <a:endParaRPr lang="en-US" sz="2400" dirty="0">
              <a:solidFill>
                <a:schemeClr val="bg2">
                  <a:lumMod val="60000"/>
                  <a:lumOff val="40000"/>
                </a:schemeClr>
              </a:solidFill>
              <a:latin typeface="Baskerville Old Face" panose="020206020805050203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Improved DAX skills for YoY calculations and dynamic KPIs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Gained a deeper understanding of Power Query and Data Modelling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Learned to design clean, high-impact visuals with storytelling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Solved issues related to missing relationships and time aggregation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178E4E8-2C18-84B4-5009-F1EC06C166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3" b="16210"/>
          <a:stretch>
            <a:fillRect/>
          </a:stretch>
        </p:blipFill>
        <p:spPr bwMode="auto">
          <a:xfrm>
            <a:off x="4963048" y="-158907"/>
            <a:ext cx="2265904" cy="108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BI - Udemy Business">
            <a:extLst>
              <a:ext uri="{FF2B5EF4-FFF2-40B4-BE49-F238E27FC236}">
                <a16:creationId xmlns:a16="http://schemas.microsoft.com/office/drawing/2014/main" id="{391E1B59-17B6-A0C4-61B4-E03C3D0D9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390" y="5929888"/>
            <a:ext cx="1738839" cy="72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574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A91E7-AD95-AD90-9398-EDB55486C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99300F-AC20-209F-7970-02DF179B2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rgbClr val="006600">
                <a:tint val="45000"/>
                <a:satMod val="400000"/>
              </a:srgbClr>
            </a:duotone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520" y="1331119"/>
            <a:ext cx="6324862" cy="4195762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3F805BD7-6880-0A4F-D2AD-9C1DF44309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3" b="16210"/>
          <a:stretch>
            <a:fillRect/>
          </a:stretch>
        </p:blipFill>
        <p:spPr bwMode="auto">
          <a:xfrm>
            <a:off x="4963048" y="-158907"/>
            <a:ext cx="2265904" cy="108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BI - Udemy Business">
            <a:extLst>
              <a:ext uri="{FF2B5EF4-FFF2-40B4-BE49-F238E27FC236}">
                <a16:creationId xmlns:a16="http://schemas.microsoft.com/office/drawing/2014/main" id="{D6707ED0-9901-8A86-FECE-BE8395D31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390" y="5929888"/>
            <a:ext cx="1738839" cy="72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AC975932-B9EF-72F6-1EF5-C0F03D5AB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143" y="2660838"/>
            <a:ext cx="9404723" cy="115718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THANK YOU !!</a:t>
            </a:r>
            <a:endParaRPr lang="en-IN" sz="4400" b="1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514828"/>
      </p:ext>
    </p:extLst>
  </p:cSld>
  <p:clrMapOvr>
    <a:masterClrMapping/>
  </p:clrMapOvr>
</p:sld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Balancing Act">
      <a:dk1>
        <a:sysClr val="windowText" lastClr="000000"/>
      </a:dk1>
      <a:lt1>
        <a:sysClr val="window" lastClr="FFFFFF"/>
      </a:lt1>
      <a:dk2>
        <a:srgbClr val="8A4C5D"/>
      </a:dk2>
      <a:lt2>
        <a:srgbClr val="9E838E"/>
      </a:lt2>
      <a:accent1>
        <a:srgbClr val="C6ADB0"/>
      </a:accent1>
      <a:accent2>
        <a:srgbClr val="E3C0BF"/>
      </a:accent2>
      <a:accent3>
        <a:srgbClr val="D4937F"/>
      </a:accent3>
      <a:accent4>
        <a:srgbClr val="CCB87E"/>
      </a:accent4>
      <a:accent5>
        <a:srgbClr val="6667AB"/>
      </a:accent5>
      <a:accent6>
        <a:srgbClr val="86A094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7C2F384-1F59-4574-A17B-4BC40AD8BA5C}" vid="{10D89658-79C5-46D4-BC12-6A4B94856D53}"/>
    </a:ext>
  </a:extLst>
</a:theme>
</file>

<file path=ppt/theme/theme2.xml><?xml version="1.0" encoding="utf-8"?>
<a:theme xmlns:a="http://schemas.openxmlformats.org/drawingml/2006/main" name="Wellspring">
  <a:themeElements>
    <a:clrScheme name="Wellspring">
      <a:dk1>
        <a:sysClr val="windowText" lastClr="000000"/>
      </a:dk1>
      <a:lt1>
        <a:sysClr val="window" lastClr="FFFFFF"/>
      </a:lt1>
      <a:dk2>
        <a:srgbClr val="A1CAC9"/>
      </a:dk2>
      <a:lt2>
        <a:srgbClr val="48996B"/>
      </a:lt2>
      <a:accent1>
        <a:srgbClr val="759F51"/>
      </a:accent1>
      <a:accent2>
        <a:srgbClr val="436A2F"/>
      </a:accent2>
      <a:accent3>
        <a:srgbClr val="CFBF54"/>
      </a:accent3>
      <a:accent4>
        <a:srgbClr val="B3832F"/>
      </a:accent4>
      <a:accent5>
        <a:srgbClr val="8C5896"/>
      </a:accent5>
      <a:accent6>
        <a:srgbClr val="6667AB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ntone template_Win32_v5.potx" id="{0B6ADF6A-1AB9-4B5E-8A87-5E88E283A9E8}" vid="{6E2187FA-78B5-42F2-9074-40D4C2C1399B}"/>
    </a:ext>
  </a:extLst>
</a:theme>
</file>

<file path=ppt/theme/theme3.xml><?xml version="1.0" encoding="utf-8"?>
<a:theme xmlns:a="http://schemas.openxmlformats.org/drawingml/2006/main" name="Star of the show">
  <a:themeElements>
    <a:clrScheme name="Star of the show">
      <a:dk1>
        <a:sysClr val="windowText" lastClr="000000"/>
      </a:dk1>
      <a:lt1>
        <a:sysClr val="window" lastClr="FFFFFF"/>
      </a:lt1>
      <a:dk2>
        <a:srgbClr val="29282D"/>
      </a:dk2>
      <a:lt2>
        <a:srgbClr val="625C60"/>
      </a:lt2>
      <a:accent1>
        <a:srgbClr val="7C6560"/>
      </a:accent1>
      <a:accent2>
        <a:srgbClr val="AEA392"/>
      </a:accent2>
      <a:accent3>
        <a:srgbClr val="DBD4D0"/>
      </a:accent3>
      <a:accent4>
        <a:srgbClr val="8E7961"/>
      </a:accent4>
      <a:accent5>
        <a:srgbClr val="F0EDE8"/>
      </a:accent5>
      <a:accent6>
        <a:srgbClr val="6667AB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ntone template_Win32_v5.potx" id="{0B6ADF6A-1AB9-4B5E-8A87-5E88E283A9E8}" vid="{CED26E1E-587B-4123-A4F9-DB49A037FBB9}"/>
    </a:ext>
  </a:extLst>
</a:theme>
</file>

<file path=ppt/theme/theme4.xml><?xml version="1.0" encoding="utf-8"?>
<a:theme xmlns:a="http://schemas.openxmlformats.org/drawingml/2006/main" name="Amusements">
  <a:themeElements>
    <a:clrScheme name="Amusements">
      <a:dk1>
        <a:sysClr val="windowText" lastClr="000000"/>
      </a:dk1>
      <a:lt1>
        <a:sysClr val="window" lastClr="FFFFFF"/>
      </a:lt1>
      <a:dk2>
        <a:srgbClr val="D77E6F"/>
      </a:dk2>
      <a:lt2>
        <a:srgbClr val="6667AB"/>
      </a:lt2>
      <a:accent1>
        <a:srgbClr val="B38F6A"/>
      </a:accent1>
      <a:accent2>
        <a:srgbClr val="D75078"/>
      </a:accent2>
      <a:accent3>
        <a:srgbClr val="E288B6"/>
      </a:accent3>
      <a:accent4>
        <a:srgbClr val="E9445D"/>
      </a:accent4>
      <a:accent5>
        <a:srgbClr val="EEC272"/>
      </a:accent5>
      <a:accent6>
        <a:srgbClr val="85A0A9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ntone template_Win32_v5.potx" id="{0B6ADF6A-1AB9-4B5E-8A87-5E88E283A9E8}" vid="{573AD6BE-256C-44EB-886C-5713CB0A8D47}"/>
    </a:ext>
  </a:extLst>
</a:theme>
</file>

<file path=ppt/theme/theme5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1613</TotalTime>
  <Words>912</Words>
  <Application>Microsoft Office PowerPoint</Application>
  <PresentationFormat>Widescreen</PresentationFormat>
  <Paragraphs>86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Aptos</vt:lpstr>
      <vt:lpstr>Arial</vt:lpstr>
      <vt:lpstr>Baskerville Old Face</vt:lpstr>
      <vt:lpstr>Calibri</vt:lpstr>
      <vt:lpstr>Cambria</vt:lpstr>
      <vt:lpstr>Century Gothic</vt:lpstr>
      <vt:lpstr>Segoe UI</vt:lpstr>
      <vt:lpstr>Segoe UI Light</vt:lpstr>
      <vt:lpstr>Wingdings</vt:lpstr>
      <vt:lpstr>Wingdings 3</vt:lpstr>
      <vt:lpstr>Theme1</vt:lpstr>
      <vt:lpstr>Wellspring</vt:lpstr>
      <vt:lpstr>Star of the show</vt:lpstr>
      <vt:lpstr>Amusements</vt:lpstr>
      <vt:lpstr>Ion</vt:lpstr>
      <vt:lpstr>SPOTIFY ANALYSIS</vt:lpstr>
      <vt:lpstr>STEPS IN THE PROJECT</vt:lpstr>
      <vt:lpstr>BUSINESS REQUIREMENT</vt:lpstr>
      <vt:lpstr>BUSINESS REQUIREMENT</vt:lpstr>
      <vt:lpstr>BUSINESS REQUIREMENT</vt:lpstr>
      <vt:lpstr>BUSINESS REQUIREMENT</vt:lpstr>
      <vt:lpstr>BUSINESS REQUIREMENT</vt:lpstr>
      <vt:lpstr>PowerPoint Presentation</vt:lpstr>
      <vt:lpstr>LISTENING HOUR HEATMAP:   Peak listening hours: 12 AM – 3 AM and 5 PM – 10 PM  Weekends show more consistent usage across all hours  Insight : Listening spikes occur late at night, indicating high user engagement during off-work hours.</vt:lpstr>
      <vt:lpstr>WHAT IT SHOWS:  Segmentation of tracks into 4 quadrants based on : Frequency (replays) Avg listening time (engagement)  Insight : Top-right: High-frequency + high-time → most engaging tracks Bottom-left: Low-frequency + low-time → less popular or skipped </vt:lpstr>
      <vt:lpstr>DATA DETAILS:  1. Grid view provides a detailed  breakdown by Album, Artist, and Track  2. Includes milliseconds_played, calculated listening time, and drill-downs </vt:lpstr>
      <vt:lpstr>PowerPoint Presentation</vt:lpstr>
      <vt:lpstr>THANK YOU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Sayali Hatwar</dc:creator>
  <cp:lastModifiedBy>Sayali Hatwar</cp:lastModifiedBy>
  <cp:revision>2</cp:revision>
  <dcterms:created xsi:type="dcterms:W3CDTF">2025-06-29T15:12:38Z</dcterms:created>
  <dcterms:modified xsi:type="dcterms:W3CDTF">2025-07-10T16:44:53Z</dcterms:modified>
</cp:coreProperties>
</file>